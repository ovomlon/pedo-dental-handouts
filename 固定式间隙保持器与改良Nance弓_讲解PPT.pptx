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开场：本讲围绕两类装置——固定式间隙保持器（带环丝圈式、固定舌弓、Nance 腭弓）与改良 Nance 弓矫治器，覆盖适应证、器械材料、操作步骤、禁忌证，并配 10 个病例。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提醒学员：全部尺寸、力值、复诊间隔均为常用参考范围，须个体化。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带环丝圈式适用于单侧 1 个牙缺失、恒牙 6 个月内不能萌出；全冠丝圈式用于基牙大面积缺损或已做全冠；远端靴式用于第一恒磨牙未萌而第二乳磨牙早失，需引导恒磨牙萌出。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舌弓与 Nance 腭弓解决跨中线、多牙缺失的间隙保持；改良 Nance 弓在保持基础上叠加推磨牙、前牵引或扩弓功能。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把这张表和后面的决策流程图对照讲，学员最容易记住。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带环完全就位、边缘密合无悬突；② 丝圈跨过缺隙、近中端抵于邻牙邻面外形高点，不进入倒凹；③ U 形曲提供调整余地；④ 丝圈距牙龈 0.5–1.0 mm，避免压龈与滞留菌斑。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双侧下颌乳磨牙早失的首选；舌弓中段的 U 形曲是后续调整间隙、适应牙弓生长的关键结构；避免压迫舌体与进入倒凹。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腭托组织面必须与腭黏膜均匀贴合、无高点；剖面图说明“距黏膜 0.5–1.0 mm”是腭弓钢丝与黏膜之间的距离，而腭托是贴合在黏膜上的。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强调力值过大可致牙根吸收、支抗丧失与装置脱落；力值不足则疗程延长、依从性下降。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推磨牙向远中：腭弓加圈曲或推簧，用于上颌第一恒磨牙异位萌出、早期 II 类；② 前方牵引支抗：带环焊颊面管或牵引钩，腭托分散反作用力，前牵引 300–500 g/侧、向前下 15°–30°、12–14 h/日。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③ 扩弓—保持：腭中缝加螺旋扩弓器，扩弓与间隙保持同步，注意加力节奏与腭中缝反应；④ 骨支抗 / 固位改良：腭部微种植钉提供绝对支抗，基牙大面积缺损时改全冠固位。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适应证把握：异位萌出越早干预越好；前牵引需能保证每日佩戴时间；扩弓要注意加力节奏与腭中缝反应。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前两问：① 继承恒牙 6 个月内是否萌出？是则定期观察；② 第一恒磨牙是否已萌出、能否戴带环？否则改用远端靴式引导萌出。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后三问：③ 缺隙是单侧还是双侧（上颌 / 下颌）？④ 有无异位萌出、推磨牙、前牵引、扩弓等早期矫治目标？⑤ 口腔卫生与依从性能否达标？不达标先治龋、必要时改活动式。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可以用现场提问方式：给出情形，让学员说出选择与理由。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八步：术前评估 → 试带环 → 取模灌模 → 技工制作 → 试戴调整 → 粘接 → 医嘱宣教 → 定期复查。加力型 4–6 周复诊，保持型 3–6 个月复查。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强调取模时带环必须牢固嵌于印模内，否则整个装置作废。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如需院内标准化，可把这张表改成科室备物卡，标注型号与供应商。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重点强调：恒牙即将萌出时上装置会阻碍萌出；卫生极差者优先改活动式或暂缓。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第一组：丝圈压龈会引起牙龈红肿、退缩；第二组：腭托局部高点会造成压迫性溃疡、发音不适与患儿拒戴，需缓冲调磨或重做。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第三组：丝圈进入倒凹不仅压龈，还无法就位、易变形；第四组：带环悬突是菌斑滞留与带环下脱矿的主要来源。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向家长强调：装置松动、变形、压牙龈要尽快复诊，不要自己掰。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带环下脱矿是固定式装置最需要预防的医源性损害，氟化物与菌斑控制是关键。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建议把这段做成知情同意附页，家长签字前逐条讲解。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拆除前拍摄影像确认继承恒牙位置与萌出状态，避免过早拆除导致间隙再度丧失；拆除后仍需定期随访。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病例 1：6 岁 4 个月，74 因龋拔除、75 完好 → 带环于 75，丝圈抵 73；病例 2：7 岁 1 个月，55、65 早失 → Nance 腭弓，跨中线同时保持双侧。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病例 3：7 岁 8 个月，16 异位萌出（可复性）→ 改良 Nance 弓 + 推簧；病例 4：8 岁 2 个月，上颌后缩、安氏 III 类 → 改良 Nance 弓 + 颊面管 + 面具。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每个病例讲一句：为什么不是别的装置？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病例 9 提示口腔卫生是固定式装置的前提；病例 10 提示腭部条件决定 Nance 系列能否使用。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结束语：装置本身不难，难在“选对人、做密合、盯得住”。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364D"/>
                </a:solidFill>
                <a:latin typeface="微软雅黑"/>
                <a:ea typeface="微软雅黑"/>
              </a:rPr>
              <a:t>固定式间隙保持器与改良 Nance 弓矫治器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0F5C8A"/>
                </a:solidFill>
                <a:latin typeface="微软雅黑"/>
                <a:ea typeface="微软雅黑"/>
              </a:rPr>
              <a:t>适应证 · 器械材料 · 操作步骤 · 禁忌证 · 病例举例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871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770"/>
                </a:solidFill>
                <a:latin typeface="微软雅黑"/>
                <a:ea typeface="微软雅黑"/>
              </a:rPr>
              <a:t>儿童口腔科 · 口腔全科 · 早期矫治　|　图解讲解版（配套图解手册使用）</a:t>
            </a:r>
          </a:p>
        </p:txBody>
      </p:sp>
      <p:pic>
        <p:nvPicPr>
          <p:cNvPr id="6" name="Picture 5" descr="fig02_ban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451603"/>
            <a:ext cx="3474719" cy="1600713"/>
          </a:xfrm>
          <a:prstGeom prst="rect">
            <a:avLst/>
          </a:prstGeom>
        </p:spPr>
      </p:pic>
      <p:pic>
        <p:nvPicPr>
          <p:cNvPr id="7" name="Picture 6" descr="fig03_lingual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373519"/>
            <a:ext cx="3474719" cy="1756880"/>
          </a:xfrm>
          <a:prstGeom prst="rect">
            <a:avLst/>
          </a:prstGeom>
        </p:spPr>
      </p:pic>
      <p:pic>
        <p:nvPicPr>
          <p:cNvPr id="8" name="Picture 7" descr="fig04_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3383280"/>
            <a:ext cx="347472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内容导览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装置类型总览与选择原则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结构与关键尺寸（丝径 / 带环 / 腭托 / 距组织距离）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改良 Nance 弓：四种改良形式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装置怎么选：决策流程 + 速查表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操作步骤与器械材料清单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适应证与禁忌证（√ / ×）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常见错误对照与质量控制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复诊维护、并发症与拆除时机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10 个病例举例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一句话主线：先判断“还能不能等”，再决定“单侧还是双侧、要不要加功能部件”。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装置类型总览（一）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单侧缺隙与恒磨牙未萌的处理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</a:t>
            </a:r>
          </a:p>
        </p:txBody>
      </p:sp>
      <p:pic>
        <p:nvPicPr>
          <p:cNvPr id="7" name="Picture 6" descr="fig0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111"/>
            <a:ext cx="11183112" cy="36469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① 带环丝圈式最常用　② 基牙条件差改全冠　③ 恒磨牙未萌用远端靴式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装置类型总览（二）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双侧缺隙与需要早期矫治的情形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3</a:t>
            </a:r>
          </a:p>
        </p:txBody>
      </p:sp>
      <p:pic>
        <p:nvPicPr>
          <p:cNvPr id="7" name="Picture 6" descr="fig01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74111"/>
            <a:ext cx="11183112" cy="364693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④ 双侧下颌→舌弓　⑤ 双侧上颌→Nance 腭弓　⑥ 需早期矫治→改良 Nance 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装置类型速查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10698479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79"/>
                <a:gridCol w="5266944"/>
                <a:gridCol w="2962656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一句话适应证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支抗牙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① 带环丝圈式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单侧 1 个牙缺失，恒牙 6 个月内不能萌出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缺隙远中邻牙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② 全冠丝圈式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基牙大面积缺损或已做全冠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全冠修复的基牙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③ 远端靴式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第一恒磨牙未萌时第二乳磨牙早失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第一乳磨牙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④ 固定舌弓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双侧下颌乳磨牙早失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下颌第一恒磨牙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⑤ Nance 腭弓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双侧上颌乳磨牙早失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上颌第一恒磨牙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⑥ 改良 Nance 弓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保持 + 早期矫治（推磨牙 / 前牵引 / 扩弓）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上颌第一恒磨牙（可加骨支抗）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选择三要素：缺隙是单侧还是双侧、恒磨牙萌出程度、有无早期矫治目标。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带环丝圈式：结构要点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颊面观 · 关键尺寸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5</a:t>
            </a:r>
          </a:p>
        </p:txBody>
      </p:sp>
      <p:pic>
        <p:nvPicPr>
          <p:cNvPr id="7" name="Picture 6" descr="fig02_ban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806" y="1234440"/>
            <a:ext cx="9825339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带环 0.12–0.18 mm　丝圈 0.8–0.9 mm　距牙龈 0.5–1.0 mm　近中端抵邻牙邻面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固定舌弓：结构要点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下颌 · 合面观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7" name="Picture 6" descr="fig03_lingua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7" y="1234440"/>
            <a:ext cx="8951976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带环 36 / 46　舌弓距舌侧牙龈 0.5–1.0 mm　U 形曲用于调整与适应生长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Nance 腭弓：结构要点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合面观 + 腭部矢状剖面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7</a:t>
            </a:r>
          </a:p>
        </p:txBody>
      </p:sp>
      <p:pic>
        <p:nvPicPr>
          <p:cNvPr id="7" name="Picture 6" descr="fig04_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1234440"/>
            <a:ext cx="9052560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腭弓 0.9–1.0 mm　距腭黏膜 0.5–1.0 mm　前腭托厚 2–3 mm、边缘圆钝、均匀贴合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常用尺寸与参数速查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10698479" cy="4361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543"/>
                <a:gridCol w="3858468"/>
                <a:gridCol w="3858468"/>
              </a:tblGrid>
              <a:tr h="48463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部位 / 环节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常用范围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要点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带环厚度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0.12–0.18 mm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边缘密合、无悬突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丝圈 / 舌弓钢丝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0.8–0.9 mm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刚性足够、便于调整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腭弓钢丝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0.9–1.0 mm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贴合腭穹窿走行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腭托厚度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2–3 mm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边缘圆钝、组织面均匀贴合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装置距牙龈 / 黏膜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0.5–1.0 mm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不压迫、不进入倒凹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推磨牙加力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0.5–1.0 mm / 次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每 4–6 周复诊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前方牵引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300–500 g/侧，向前下 15°–30°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12–14 h/日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保持型复查间隔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3–6 个月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间隙测量 + 装置检查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所有数字都是“常用范围”，必须结合年龄、牙列阶段与影像学表现个体化。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改良 Nance 弓（一）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推磨牙向远中 · 前方牵引支抗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9</a:t>
            </a:r>
          </a:p>
        </p:txBody>
      </p:sp>
      <p:pic>
        <p:nvPicPr>
          <p:cNvPr id="7" name="Picture 6" descr="fig05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3047"/>
            <a:ext cx="11183112" cy="37090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推簧 / 圈曲推磨牙向远中；带环焊颊面管或牵引钩配合面具前牵引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改良 Nance 弓（二）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扩弓—保持型 · 骨支抗 / 固位改良型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10</a:t>
            </a:r>
          </a:p>
        </p:txBody>
      </p:sp>
      <p:pic>
        <p:nvPicPr>
          <p:cNvPr id="7" name="Picture 6" descr="fig0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11983"/>
            <a:ext cx="11183112" cy="377119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横向不足加螺旋扩弓器；需绝对支抗或基牙条件差时加微种植钉 / 改全冠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改良形式对照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78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158"/>
                <a:gridCol w="4384622"/>
                <a:gridCol w="3507698"/>
              </a:tblGrid>
              <a:tr h="7772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改良形式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结构变化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主要目的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① 推磨牙向远中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腭弓加圈曲 / 推簧，或焊远中向牵引臂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上颌第一恒磨牙异位萌出、早期 II 类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② 前方牵引支抗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带环焊颊面管 / 牵引钩，腭托加大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安氏 III 类上颌后缩的腭部支抗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③ 扩弓—保持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腭中缝加螺旋扩弓器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横向不足合并间隙丧失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④ 骨支抗 / 固位改良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腭部微种植钉；基牙改全冠、加邻牙支托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需绝对支抗或基牙条件差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改良的前提是“有明确的早期矫治目标”，否则用经典 Nance 腭弓即可。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装置怎么选（一）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决策流程：能否等待 · 能否戴带环 · 单侧缺隙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12</a:t>
            </a:r>
          </a:p>
        </p:txBody>
      </p:sp>
      <p:pic>
        <p:nvPicPr>
          <p:cNvPr id="7" name="Picture 6" descr="fig0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5805"/>
            <a:ext cx="11183112" cy="3497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恒牙 6 个月内萌出 → 观察；第一恒磨牙未萌 → 远端靴式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装置怎么选（二）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决策流程：双侧缺隙 · 早期矫治目标 · 卫生依从性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13</a:t>
            </a:r>
          </a:p>
        </p:txBody>
      </p:sp>
      <p:pic>
        <p:nvPicPr>
          <p:cNvPr id="7" name="Picture 6" descr="fig06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7589"/>
            <a:ext cx="11183112" cy="40942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单侧→丝圈式；双侧上颌→Nance 腭弓；双侧下颌→舌弓；有早期矫治目标→改良 Nance 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装置选择速查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106984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2076"/>
                <a:gridCol w="2674620"/>
                <a:gridCol w="2841783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临床情形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首选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关键点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单侧下颌第一乳磨牙早失，第二乳磨牙完好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带环丝圈式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带环于第二乳磨牙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单侧第二乳磨牙早失，第一恒磨牙未萌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远端靴式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引导恒磨牙萌出，时机要求高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双侧下颌乳磨牙早失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固定舌弓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支抗牙 36 / 46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双侧上颌乳磨牙早失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Nance 腭弓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腭托需均匀贴合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上颌第一恒磨牙异位萌出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推簧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尽早干预，评估可否复位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上颌后缩拟行前方牵引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面具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需保证每日佩戴时间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上颌横向不足合并缺隙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扩弓器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扩弓与保持同步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口腔卫生极差、龋病未控制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先治龋 / 暂缓固定装置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必要时改活动式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同一情形可能有多个可选方案，最终取决于基牙条件、卫生与依从性。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操作流程与关键点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固定式保持器 / 改良 Nance 弓通用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15</a:t>
            </a:r>
          </a:p>
        </p:txBody>
      </p:sp>
      <p:pic>
        <p:nvPicPr>
          <p:cNvPr id="7" name="Picture 6" descr="fig07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3019"/>
            <a:ext cx="11183112" cy="3851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隔湿是粘接成功的关键；丝圈与腭弓距组织 0.5–1.0 mm；腭托边缘圆钝、均匀贴合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操作步骤要点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25880"/>
          <a:ext cx="10698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381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步骤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操作要点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1 术前评估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影像判断恒牙发育阶段与萌出通道；测缺隙；查基牙与口腔卫生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2 试带环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就位、边缘密合无悬突、邻接恢复、咬合无干扰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 取模灌模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带环随印模取出并牢固复位；超硬石膏灌制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4 技工制作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丝圈 / 舌弓 / 腭弓弯制 → 焊接带环 → 制作腭托 → 抛光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5 试戴调整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丝圈与腭弓距组织 0.5–1.0 mm；腭托均匀贴合；咬合无干扰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6 粘接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严格隔湿；完全就位；去净多余粘接剂；复查咬合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 医嘱宣教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避免硬黏食物；重点清洁带环边缘、丝圈下方、腭托边缘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8 定期复查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保持型 3–6 个月；加力型 4–6 周；记录间隙测量值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每一步都要能回答：“怎么确认做对了？”——就位、密合、避让、无干扰、隔湿。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器械与材料清单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38160"/>
              </a:tblGrid>
              <a:tr h="8229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环节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材料与器械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检查与取模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检查盘、间隙测量尺、儿童托盘、藻酸盐印模材、超硬石膏、咬合蜡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固位与粘接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预成不锈钢带环、预成不锈钢全冠、玻璃离子 / 树脂加强玻璃离子、正畸粘接剂、开口器与吸唾器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技工制作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不锈钢丝 0.8 / 0.9 / 1.0 mm、梯形钳、三喙钳、断丝钳、点焊机、银焊与焊媒、腭托树脂、打磨抛光器材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改良部件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螺旋扩弓器、颊面管、牵引钩、推簧、镍钛丝、前方牵引面具与橡皮圈、（可选）腭部微种植钉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防护与随访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氟保护漆 / 含氟涂料、根尖片与曲面体层片、复诊记录表、宣教资料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材料清单可直接作为科室备物核对表使用。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适应证与禁忌证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6400" cy="448056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1864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146304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18643E"/>
                </a:solidFill>
                <a:latin typeface="微软雅黑"/>
                <a:ea typeface="微软雅黑"/>
              </a:rPr>
              <a:t>√ 适应证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乳磨牙早失，恒牙 6 个月内不能萌出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单侧 1 牙缺失（带环 / 全冠丝圈式）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双侧缺隙（舌弓 / Nance 腭弓）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第一恒磨牙未萌 + 第二乳磨牙早失（远端靴式）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先天缺牙需维持间隙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依从性差，不宜活动式装置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需加强支抗（推磨牙 / 前牵引 / 扩弓）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磨牙异位萌出的早期阻断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422392" cy="4480560"/>
          </a:xfrm>
          <a:prstGeom prst="roundRect">
            <a:avLst/>
          </a:prstGeom>
          <a:solidFill>
            <a:srgbClr val="FCF0EF"/>
          </a:solidFill>
          <a:ln w="12700">
            <a:solidFill>
              <a:srgbClr val="B0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46304" tIns="146304"/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B03A2B"/>
                </a:solidFill>
                <a:latin typeface="微软雅黑"/>
                <a:ea typeface="微软雅黑"/>
              </a:rPr>
              <a:t>× 禁忌证 / 慎用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继承恒牙即将萌出（牙根 &gt; 2/3）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龋病、牙髓病未控制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口腔卫生极差、高龋活性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基牙牙冠高度 / 形态不足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腭穹窿过浅、腭部瘢痕或感觉障碍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对镍铬 / 不锈钢过敏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无法定期复诊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28323C"/>
                </a:solidFill>
                <a:latin typeface="微软雅黑"/>
                <a:ea typeface="微软雅黑"/>
              </a:rPr>
              <a:t>· 需综合正畸 / 拔牙矫治；面具佩戴时间无法保证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禁忌证多半是“先处理再评估”：先把龋病与卫生问题解决，再谈装置。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常见错误对照（一）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丝圈距龈 · 腭托贴合　（左对 · 右错）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19</a:t>
            </a:r>
          </a:p>
        </p:txBody>
      </p:sp>
      <p:pic>
        <p:nvPicPr>
          <p:cNvPr id="7" name="Picture 6" descr="fig0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3207"/>
            <a:ext cx="11183112" cy="3883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丝圈距牙龈 0.5–1.0 mm；腭托组织面均匀贴合、无高点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常见错误对照（二）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丝圈与邻牙 · 带环边缘　（左对 · 右错）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20</a:t>
            </a:r>
          </a:p>
        </p:txBody>
      </p:sp>
      <p:pic>
        <p:nvPicPr>
          <p:cNvPr id="7" name="Picture 6" descr="fig0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3207"/>
            <a:ext cx="11183112" cy="38830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丝圈抵于邻面外形高点，不进入倒凹；带环边缘密合、无悬突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复诊与维护时间轴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21</a:t>
            </a:r>
          </a:p>
        </p:txBody>
      </p:sp>
      <p:pic>
        <p:nvPicPr>
          <p:cNvPr id="6" name="Picture 5" descr="fig09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18" y="1417320"/>
            <a:ext cx="10580914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61772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8323C"/>
                </a:solidFill>
                <a:latin typeface="微软雅黑"/>
                <a:ea typeface="微软雅黑"/>
              </a:rPr>
              <a:t>· 戴入后 1 周：装置稳定性、组织反应、咬合与卫生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8323C"/>
                </a:solidFill>
                <a:latin typeface="微软雅黑"/>
                <a:ea typeface="微软雅黑"/>
              </a:rPr>
              <a:t>· 1 个月：适应情况、基牙与软组织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8323C"/>
                </a:solidFill>
                <a:latin typeface="微软雅黑"/>
                <a:ea typeface="微软雅黑"/>
              </a:rPr>
              <a:t>· 保持型：每 3–6 个月复查；加力型：每 4–6 周复诊加力</a:t>
            </a:r>
          </a:p>
          <a:p>
            <a:pPr>
              <a:spcAft>
                <a:spcPts val="400"/>
              </a:spcAft>
            </a:pPr>
            <a:r>
              <a:rPr sz="1350" b="0">
                <a:solidFill>
                  <a:srgbClr val="28323C"/>
                </a:solidFill>
                <a:latin typeface="微软雅黑"/>
                <a:ea typeface="微软雅黑"/>
              </a:rPr>
              <a:t>· 每次复诊记录间隙测量值、装置状态与处理措施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脱落后未及时处理，是间隙保持失败最常见的原因。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常见并发症与处理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79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257"/>
                <a:gridCol w="3905794"/>
                <a:gridCol w="4245428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并发症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常见原因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处理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带环松动 / 脱落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隔湿不良、咬合力过大、基牙条件差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重新粘固；反复脱落改全冠或换设计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丝圈变形、压龈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外力、制作不当、邻牙萌出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口内调整或重做，解除压迫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腭托压迫溃疡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组织面不贴合、树脂过多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缓冲调磨；必要时重做腭托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牙龈炎、带环下脱矿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卫生维护差、滞留区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洁治 + 用氟 + 强化宣教；必要时拆除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牙髓症状 / 牙根吸收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矫治力过大、移动过快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停止加力或拆除，评估牙髓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间隙保持失败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脱落未复诊、设计不当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重新评估，必要时正畸会诊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并发症的共同源头：适应证把握、隔湿质量、组织避让与随访依从性。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家长沟通要点（可直接照读）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607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这个装置是“占位”的：乳牙早掉，旁边的牙会倒过来占掉恒牙的位置。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不要咬硬糖、冰块、黏性食物；刷牙要重点刷装置边缘和金属圈下面。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装置松动、变形、牙龈被压红或孩子喊疼，请尽快来医院，不要自己掰。</a:t>
            </a:r>
          </a:p>
          <a:p>
            <a:pPr>
              <a:spcAft>
                <a:spcPts val="1600"/>
              </a:spcAft>
            </a:pPr>
            <a:r>
              <a:rPr sz="1700" b="0">
                <a:solidFill>
                  <a:srgbClr val="28323C"/>
                </a:solidFill>
                <a:latin typeface="微软雅黑"/>
                <a:ea typeface="微软雅黑"/>
              </a:rPr>
              <a:t>· 按预约复查；恒牙长到位置或开始做矫正时，就把它取下来。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把“为什么戴、戴多久、什么时候来、出问题怎么办”四件事讲清楚即可。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拆除时机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影像学 + 临床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24</a:t>
            </a:r>
          </a:p>
        </p:txBody>
      </p:sp>
      <p:pic>
        <p:nvPicPr>
          <p:cNvPr id="7" name="Picture 6" descr="fig11_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485" y="1280160"/>
            <a:ext cx="10109981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牙根形成 ≥ 2/3、骨覆盖消失、邻接建立 → 拆除；否则继续戴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病例举例（一）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典型病例示意：病例 1—2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25</a:t>
            </a:r>
          </a:p>
        </p:txBody>
      </p:sp>
      <p:pic>
        <p:nvPicPr>
          <p:cNvPr id="7" name="Picture 6" descr="fig1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2836"/>
            <a:ext cx="11183112" cy="3429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红圈 = 缺隙；病例 1 单侧缺隙 → 带环丝圈式；病例 2 双侧缺隙 → Nance 腭弓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病例举例（二）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典型病例示意：病例 3—4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26</a:t>
            </a:r>
          </a:p>
        </p:txBody>
      </p:sp>
      <p:pic>
        <p:nvPicPr>
          <p:cNvPr id="7" name="Picture 6" descr="fig1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76623"/>
            <a:ext cx="11183112" cy="34419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红箭头 = 加力方向；异位萌出用推簧，上颌后缩用前牵引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病例举例（三）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病例 1—5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789918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074"/>
                <a:gridCol w="2569028"/>
                <a:gridCol w="2312125"/>
                <a:gridCol w="2483394"/>
                <a:gridCol w="2740297"/>
              </a:tblGrid>
              <a:tr h="7589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病例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年龄 / 情况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影像与检查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装置选择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理由与要点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6 岁 4 个月，男；74 因龋拔除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75 完好；恒牙距萌出 &gt; 1 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带环丝圈式（带环于 75）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单侧单牙缺失；丝圈抵 73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 岁 1 个月，女；55、65 早失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腭穹窿较深；16、26 已萌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Nance 腭弓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跨中线保持双侧；腭托提供支抗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 岁 8 个月，男；16 异位萌出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可复性嵌顿，牙根约 1/2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推簧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早期阻断，避免间隙进一步丧失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8 岁 2 个月，女；上颌后缩、反合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ANB &lt; 0°，上颌后缩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颊面管 + 面具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腭部支抗 + 前牵引 300–500 g/侧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5 岁 10 个月，女；85 早失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46 尚未萌出，骨覆盖完整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远端靴式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引导 46 萌出；拔牙前取模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病例 1—5：单侧、双侧、异位萌出、骨性因素、恒磨牙未萌，覆盖四类适应证。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病例举例（四）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78408"/>
            <a:ext cx="11155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5C8A"/>
                </a:solidFill>
                <a:latin typeface="微软雅黑"/>
                <a:ea typeface="微软雅黑"/>
              </a:rPr>
              <a:t>病例 6—10 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789918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074"/>
                <a:gridCol w="2569028"/>
                <a:gridCol w="2312125"/>
                <a:gridCol w="2483394"/>
                <a:gridCol w="2740297"/>
              </a:tblGrid>
              <a:tr h="75895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病例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年龄 / 情况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影像与检查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装置选择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理由与要点</a:t>
                      </a:r>
                    </a:p>
                  </a:txBody>
                  <a:tcPr marL="73152" marR="54864" marT="18288" marB="18288" anchor="ctr">
                    <a:solidFill>
                      <a:srgbClr val="1F364D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6 岁 8 个月，男；75、85 早失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36、46 已萌，牙冠条件好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固定舌弓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下颌多牙缺失，保持牙弓长度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9 岁，女；上颌横向不足 + 55 早失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后牙反合，上颌宽度不足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改良 Nance 弓 + 螺旋扩弓器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扩弓与保持同步，注意加力节奏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8 岁 6 个月，男；75 早失，36 已萌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36 完全萌出，牙冠高度足够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带环丝圈式（带环于 36）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恒磨牙已萌，固位可靠、制作简单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7 岁 3 个月，男；74 早失、多牙龋坏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口腔卫生极差，多牙需治疗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先治龋 + 卫生指导，暂缓固定装置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卫生与依从性不达标，必要时改活动式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</a:tr>
              <a:tr h="75895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6 岁 2 个月，女；65 早失 + 腭部瘢痕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腭穹窿浅，腭部术后瘢痕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改带环丝圈式（单侧）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8323C"/>
                          </a:solidFill>
                          <a:latin typeface="微软雅黑"/>
                          <a:ea typeface="微软雅黑"/>
                        </a:rPr>
                        <a:t>Nance 腭托易压迫、脱位，应回避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病例 9、10 是“反例”：装置选择之前，先解决卫生、龋病与解剖条件。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F364D"/>
                </a:solidFill>
                <a:latin typeface="微软雅黑"/>
                <a:ea typeface="微软雅黑"/>
              </a:rPr>
              <a:t>小结：术前 / 术中 / 术后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32688"/>
            <a:ext cx="11183112" cy="32004"/>
          </a:xfrm>
          <a:prstGeom prst="rect">
            <a:avLst/>
          </a:prstGeom>
          <a:solidFill>
            <a:srgbClr val="D6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固定式间隙保持器与改良 Nance 弓矫治器 · 图解讲解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5F6770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28323C"/>
                </a:solidFill>
                <a:latin typeface="微软雅黑"/>
                <a:ea typeface="微软雅黑"/>
              </a:rPr>
              <a:t>· 术前：影像确认恒牙发育阶段；测量缺隙；评估基牙与菌斑；完成龋病治疗；知情同意。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28323C"/>
                </a:solidFill>
                <a:latin typeface="微软雅黑"/>
                <a:ea typeface="微软雅黑"/>
              </a:rPr>
              <a:t>· 术中：带环完全就位无悬突；焊点牢固；丝圈 / 腭弓距组织 0.5–1.0 mm；腭托贴合；咬合无干扰；隔湿充分。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28323C"/>
                </a:solidFill>
                <a:latin typeface="微软雅黑"/>
                <a:ea typeface="微软雅黑"/>
              </a:rPr>
              <a:t>· 术后：清洁方法示范并让家长复述；交代饮食禁忌；预约复查；病历记录材料规格。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28323C"/>
                </a:solidFill>
                <a:latin typeface="微软雅黑"/>
                <a:ea typeface="微软雅黑"/>
              </a:rPr>
              <a:t>· 改良 Nance 弓：目标明确才加部件，加力后按期复诊并影像随访。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28323C"/>
                </a:solidFill>
                <a:latin typeface="微软雅黑"/>
                <a:ea typeface="微软雅黑"/>
              </a:rPr>
              <a:t>· 拆除：牙根 ≥ 2/3、骨覆盖消失、邻接建立时拆除，拆除后仍需随访。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870448"/>
            <a:ext cx="11183112" cy="512064"/>
          </a:xfrm>
          <a:prstGeom prst="roundRect">
            <a:avLst>
              <a:gd name="adj" fmla="val 16000"/>
            </a:avLst>
          </a:prstGeom>
          <a:solidFill>
            <a:srgbClr val="EE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1350" b="1">
                <a:solidFill>
                  <a:srgbClr val="1F364D"/>
                </a:solidFill>
                <a:latin typeface="微软雅黑"/>
                <a:ea typeface="微软雅黑"/>
              </a:rPr>
              <a:t>参考依据：儿童间隙保持器临床应用指南、儿童口腔医学与口腔正畸学教材、AAPD 相关规范。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